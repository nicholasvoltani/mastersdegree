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9" r:id="rId4"/>
    <p:sldId id="260" r:id="rId5"/>
    <p:sldId id="261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9D5BBB-D363-46AC-83CD-F474F1C03DFC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6B457A-2E57-4158-9411-FBD0DAA66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471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B457A-2E57-4158-9411-FBD0DAA6668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3944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B457A-2E57-4158-9411-FBD0DAA6668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5814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13038-D7BE-427E-5F6E-EF04BCFFAF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7A2D78-E68E-CF6C-BCD0-96C761C96C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6E699E-43FC-C641-134E-D56F033F1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794CB-788A-4CDC-9402-7F9133A26FD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F175B-49C4-9248-E373-E80E47FC9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BCB892-D236-C44C-95D9-07FD37E11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B9A3B-7AF5-4559-9C7D-60AB690A6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98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6C678-86D1-59A0-1FC0-878CA03A5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39436-0242-634F-78C1-2E616D89A2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EF4B3F-2F00-7F28-C78A-512A63519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794CB-788A-4CDC-9402-7F9133A26FD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4082F3-0D25-46FA-05B6-CA8506FB5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8E81CB-ED6E-8D90-D98E-BD65CC546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B9A3B-7AF5-4559-9C7D-60AB690A6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735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AEF17-F16F-58E9-9F91-00D7E5122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CD8A52-16CE-D788-4B2E-35676F9939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EB51A-4D38-1504-B591-9A02E3C77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794CB-788A-4CDC-9402-7F9133A26FD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2F6FF7-E0CD-CB9A-B1D8-053A4DB60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77D4F-A842-4B04-AA10-9F5909357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B9A3B-7AF5-4559-9C7D-60AB690A6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856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AA367-BB94-A549-A75F-072487783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04B2F-BAD8-70E9-930C-D885A09897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DE4F78-DE43-C02D-5682-B6AD10D401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A8BC45-40D4-9855-F024-4E393DF38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794CB-788A-4CDC-9402-7F9133A26FD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2E23FE-A9AF-2CFD-20D0-4C9BDE295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351DFA-74AE-3A7B-C002-ACBAFDF05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B9A3B-7AF5-4559-9C7D-60AB690A6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159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912C9-9944-4DA4-64B5-74D3DABDA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07BDCC-4350-5E9D-64CA-3D5BCF43D4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A44B66-6878-8F00-3302-8687A0A16C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820293-0741-E77A-6129-4049DB4F46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9F5382-3D2C-F80F-478E-A86ACD6AF6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BC5258-9B31-A2F6-56B2-0FA9552CE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794CB-788A-4CDC-9402-7F9133A26FD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6FB729-D8AD-465E-754C-1C2C47185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ADD04F-592A-C30B-0D09-9DFDCA532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B9A3B-7AF5-4559-9C7D-60AB690A6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786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F1B30-A4B3-CDC7-4D63-4267F3343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E34ED8-6B89-992B-8513-2ED92189F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794CB-788A-4CDC-9402-7F9133A26FD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F46C7F-18F7-9A3A-05BB-39D8D46B2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C04866-04D0-61F1-8EAD-A73DC6038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B9A3B-7AF5-4559-9C7D-60AB690A6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474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E8BA47-E86D-8F6C-5753-E2D141688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794CB-788A-4CDC-9402-7F9133A26FD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EE19D-00AC-6300-BA71-04541370E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DEB2B6-5B4D-E99F-B93D-54B0273DA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B9A3B-7AF5-4559-9C7D-60AB690A6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565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F0EBA-8DDB-CD75-3C35-3C6C20E5D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00F93-809D-6A07-CB09-2AC88C23D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F1A3F6-5EB1-A41C-FDE0-D4EC47C7C2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EA0F00-11A0-95D6-3DFC-64290DB11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794CB-788A-4CDC-9402-7F9133A26FD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766868-647C-811B-4F2F-E7B1FAA11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465777-4365-BE68-A03A-5E3A63518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B9A3B-7AF5-4559-9C7D-60AB690A6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7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F1E06-AE17-B07F-858B-5F231492D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B04BCA-EC72-1CF8-CA00-748FD6960F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DC3CD3-09CB-AEB1-9C67-E41084DBA3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C40A79-2D32-1D87-8039-8A2779F45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794CB-788A-4CDC-9402-7F9133A26FD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F1962B-F222-1D62-F78F-7ABB4FE00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B44A7B-D88A-0B22-50E8-299D2E642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B9A3B-7AF5-4559-9C7D-60AB690A6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876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93DC1-F238-4055-697E-73C934DAA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7645CE-9CDE-E9AD-4841-BAAF6A3016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7AB6BC-0432-DED4-1F59-B8B090C91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794CB-788A-4CDC-9402-7F9133A26FD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F93CE-A3D5-8621-4951-D993CA752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BF1ADA-A092-1A68-99A2-6E1EA1BCB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B9A3B-7AF5-4559-9C7D-60AB690A6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571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287E19-1E3A-9D0E-0E54-9913B9DEF8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536965-9025-2713-F3B4-E2F127EA56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246E94-FF7D-4657-A9E6-39BFFCBE6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794CB-788A-4CDC-9402-7F9133A26FD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D2D6E2-5D4C-520F-6BB7-326DEFB85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5E7A8B-F5C1-FBB1-D5D1-A4F23C4BC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B9A3B-7AF5-4559-9C7D-60AB690A6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54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78DA88-C000-9F4A-058B-B0820078F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7CEFDD-8B5A-8762-0786-47E7342D85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7C92D0-8D06-BADC-3B1F-2B19FFECE3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C794CB-788A-4CDC-9402-7F9133A26FD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A29596-BC53-4442-FAFD-2F9BA3AA4E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9B9E32-AA9E-FAED-5AE7-FEB4C3CA95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CB9A3B-7AF5-4559-9C7D-60AB690A6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345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rshanthini.com/tmp/CP551/ReboundEffectReport.PD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E94261F-1ED3-4E90-88E6-134791440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4A5943-2774-72B8-6557-37E9F4F136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1262" y="590062"/>
            <a:ext cx="5517822" cy="2838938"/>
          </a:xfrm>
        </p:spPr>
        <p:txBody>
          <a:bodyPr>
            <a:normAutofit/>
          </a:bodyPr>
          <a:lstStyle/>
          <a:p>
            <a:pPr algn="l"/>
            <a:r>
              <a:rPr lang="pt-BR" sz="4800">
                <a:solidFill>
                  <a:srgbClr val="FFFFFF"/>
                </a:solidFill>
              </a:rPr>
              <a:t>Para uma análise marxista do postulado de Khazzoom-Brookes</a:t>
            </a:r>
            <a:endParaRPr lang="en-US" sz="48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C93FF6-FF2A-C680-CDEE-B399431CAB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42044" y="4698614"/>
            <a:ext cx="5088650" cy="1198120"/>
          </a:xfrm>
        </p:spPr>
        <p:txBody>
          <a:bodyPr>
            <a:normAutofit/>
          </a:bodyPr>
          <a:lstStyle/>
          <a:p>
            <a:pPr algn="r"/>
            <a:r>
              <a:rPr lang="pt-BR" sz="2000">
                <a:solidFill>
                  <a:srgbClr val="FFFFFF"/>
                </a:solidFill>
              </a:rPr>
              <a:t>Nicholas Funari Voltani</a:t>
            </a:r>
            <a:endParaRPr lang="en-US" sz="2000">
              <a:solidFill>
                <a:srgbClr val="FFFFFF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350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867100-30CA-CF54-9F0D-A302C0A95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2091" y="501651"/>
            <a:ext cx="4395340" cy="17162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“</a:t>
            </a:r>
            <a:r>
              <a:rPr 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Paradoxo</a:t>
            </a: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” de Jevons (final do </a:t>
            </a:r>
            <a:r>
              <a:rPr 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século</a:t>
            </a: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XIX)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paper with text on it&#10;&#10;AI-generated content may be incorrect.">
            <a:extLst>
              <a:ext uri="{FF2B5EF4-FFF2-40B4-BE49-F238E27FC236}">
                <a16:creationId xmlns:a16="http://schemas.microsoft.com/office/drawing/2014/main" id="{152E1664-CC07-0FE1-21B1-9DE42E4C80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617" y="299509"/>
            <a:ext cx="3520677" cy="6258983"/>
          </a:xfrm>
          <a:prstGeom prst="rect">
            <a:avLst/>
          </a:prstGeom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7B06D3DE-9163-2EF0-DD8A-5B21A2AB8A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645922"/>
            <a:ext cx="5191431" cy="371042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</a:rPr>
              <a:t>“It is wholly a confusion of ideas to suppose that the economical use of fuel is equivalent to a diminished consumption. </a:t>
            </a:r>
            <a:br>
              <a:rPr lang="en-US" altLang="en-US" sz="2000" i="1" dirty="0">
                <a:solidFill>
                  <a:schemeClr val="tx1">
                    <a:alpha val="80000"/>
                  </a:schemeClr>
                </a:solidFill>
              </a:rPr>
            </a:b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</a:rPr>
              <a:t>The very contrary is the truth.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</a:rPr>
              <a:t>” (Jevons, 1866, p. 75)</a:t>
            </a: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lang="en-US" altLang="en-US" sz="2000" dirty="0">
              <a:solidFill>
                <a:schemeClr val="tx1">
                  <a:alpha val="80000"/>
                </a:schemeClr>
              </a:solidFill>
            </a:endParaRP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</a:endParaRP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en-US" altLang="en-US" dirty="0" err="1">
                <a:solidFill>
                  <a:schemeClr val="tx1">
                    <a:alpha val="80000"/>
                  </a:schemeClr>
                </a:solidFill>
              </a:rPr>
              <a:t>Redução</a:t>
            </a:r>
            <a:r>
              <a:rPr lang="en-US" altLang="en-US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altLang="en-US" i="1" dirty="0" err="1">
                <a:solidFill>
                  <a:schemeClr val="tx1">
                    <a:alpha val="80000"/>
                  </a:schemeClr>
                </a:solidFill>
              </a:rPr>
              <a:t>relativa</a:t>
            </a:r>
            <a:r>
              <a:rPr lang="en-US" altLang="en-US" dirty="0">
                <a:solidFill>
                  <a:schemeClr val="tx1">
                    <a:alpha val="80000"/>
                  </a:schemeClr>
                </a:solidFill>
              </a:rPr>
              <a:t> de </a:t>
            </a:r>
            <a:r>
              <a:rPr lang="en-US" altLang="en-US" dirty="0" err="1">
                <a:solidFill>
                  <a:schemeClr val="tx1">
                    <a:alpha val="80000"/>
                  </a:schemeClr>
                </a:solidFill>
              </a:rPr>
              <a:t>consumo</a:t>
            </a:r>
            <a:r>
              <a:rPr lang="en-US" altLang="en-US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altLang="en-US" dirty="0" err="1">
                <a:solidFill>
                  <a:schemeClr val="tx1">
                    <a:alpha val="80000"/>
                  </a:schemeClr>
                </a:solidFill>
              </a:rPr>
              <a:t>energético</a:t>
            </a:r>
            <a:r>
              <a:rPr lang="en-US" altLang="en-US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altLang="en-US" b="1" dirty="0" err="1">
                <a:solidFill>
                  <a:schemeClr val="tx1">
                    <a:alpha val="80000"/>
                  </a:schemeClr>
                </a:solidFill>
              </a:rPr>
              <a:t>não</a:t>
            </a:r>
            <a:r>
              <a:rPr lang="en-US" altLang="en-US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altLang="en-US" dirty="0" err="1">
                <a:solidFill>
                  <a:schemeClr val="tx1">
                    <a:alpha val="80000"/>
                  </a:schemeClr>
                </a:solidFill>
              </a:rPr>
              <a:t>conduz</a:t>
            </a:r>
            <a:r>
              <a:rPr lang="en-US" altLang="en-US" dirty="0">
                <a:solidFill>
                  <a:schemeClr val="tx1">
                    <a:alpha val="80000"/>
                  </a:schemeClr>
                </a:solidFill>
              </a:rPr>
              <a:t> à </a:t>
            </a:r>
            <a:r>
              <a:rPr lang="en-US" altLang="en-US" dirty="0" err="1">
                <a:solidFill>
                  <a:schemeClr val="tx1">
                    <a:alpha val="80000"/>
                  </a:schemeClr>
                </a:solidFill>
              </a:rPr>
              <a:t>sua</a:t>
            </a:r>
            <a:r>
              <a:rPr lang="en-US" altLang="en-US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altLang="en-US" dirty="0" err="1">
                <a:solidFill>
                  <a:schemeClr val="tx1">
                    <a:alpha val="80000"/>
                  </a:schemeClr>
                </a:solidFill>
              </a:rPr>
              <a:t>redução</a:t>
            </a:r>
            <a:r>
              <a:rPr lang="en-US" altLang="en-US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altLang="en-US" i="1" dirty="0" err="1">
                <a:solidFill>
                  <a:schemeClr val="tx1">
                    <a:alpha val="80000"/>
                  </a:schemeClr>
                </a:solidFill>
              </a:rPr>
              <a:t>absoluta</a:t>
            </a:r>
            <a:r>
              <a:rPr lang="en-US" altLang="en-US" dirty="0">
                <a:solidFill>
                  <a:schemeClr val="tx1">
                    <a:alpha val="80000"/>
                  </a:schemeClr>
                </a:solidFill>
              </a:rPr>
              <a:t> (e sim </a:t>
            </a:r>
            <a:r>
              <a:rPr lang="en-US" altLang="en-US" dirty="0" err="1">
                <a:solidFill>
                  <a:schemeClr val="tx1">
                    <a:alpha val="80000"/>
                  </a:schemeClr>
                </a:solidFill>
              </a:rPr>
              <a:t>ao</a:t>
            </a:r>
            <a:r>
              <a:rPr lang="en-US" altLang="en-US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altLang="en-US" dirty="0" err="1">
                <a:solidFill>
                  <a:schemeClr val="tx1">
                    <a:alpha val="80000"/>
                  </a:schemeClr>
                </a:solidFill>
              </a:rPr>
              <a:t>seu</a:t>
            </a:r>
            <a:r>
              <a:rPr lang="en-US" altLang="en-US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altLang="en-US" i="1" dirty="0" err="1">
                <a:solidFill>
                  <a:schemeClr val="tx1">
                    <a:alpha val="80000"/>
                  </a:schemeClr>
                </a:solidFill>
              </a:rPr>
              <a:t>aumento</a:t>
            </a:r>
            <a:r>
              <a:rPr lang="en-US" altLang="en-US" dirty="0">
                <a:solidFill>
                  <a:schemeClr val="tx1">
                    <a:alpha val="80000"/>
                  </a:schemeClr>
                </a:solidFill>
              </a:rPr>
              <a:t>)</a:t>
            </a:r>
            <a:endParaRPr kumimoji="0" lang="en-US" altLang="en-US" b="0" i="1" u="none" strike="noStrike" cap="none" normalizeH="0" baseline="0" dirty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2435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663246-0BBC-5F43-14DC-AF7CE88A4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2091" y="501651"/>
            <a:ext cx="4395340" cy="1716255"/>
          </a:xfrm>
        </p:spPr>
        <p:txBody>
          <a:bodyPr anchor="b">
            <a:normAutofit/>
          </a:bodyPr>
          <a:lstStyle/>
          <a:p>
            <a:r>
              <a:rPr lang="pt-BR" sz="3600" dirty="0"/>
              <a:t>Postulado de Khazzoom-Brookes (pós-1970’s/1980’s)</a:t>
            </a:r>
            <a:endParaRPr lang="en-US" sz="36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graph of energy output&#10;&#10;AI-generated content may be incorrect.">
            <a:extLst>
              <a:ext uri="{FF2B5EF4-FFF2-40B4-BE49-F238E27FC236}">
                <a16:creationId xmlns:a16="http://schemas.microsoft.com/office/drawing/2014/main" id="{B5449D14-6C46-C1D1-4BFB-993478694D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143" y="1738500"/>
            <a:ext cx="5221625" cy="3381001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578D61B-04F1-6A0C-7989-7EC6BD8EBA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2091" y="3763171"/>
            <a:ext cx="4434721" cy="2712659"/>
          </a:xfrm>
        </p:spPr>
        <p:txBody>
          <a:bodyPr anchor="t">
            <a:normAutofit/>
          </a:bodyPr>
          <a:lstStyle/>
          <a:p>
            <a:r>
              <a:rPr lang="pt-BR" sz="2000" dirty="0">
                <a:solidFill>
                  <a:schemeClr val="tx1">
                    <a:alpha val="80000"/>
                  </a:schemeClr>
                </a:solidFill>
              </a:rPr>
              <a:t>Aumento de eficiência energética induz:</a:t>
            </a:r>
          </a:p>
          <a:p>
            <a:pPr lvl="1"/>
            <a:r>
              <a:rPr lang="pt-BR" sz="1600" i="1" dirty="0">
                <a:solidFill>
                  <a:schemeClr val="tx1">
                    <a:alpha val="80000"/>
                  </a:schemeClr>
                </a:solidFill>
              </a:rPr>
              <a:t>Efeito rebound</a:t>
            </a:r>
            <a:r>
              <a:rPr lang="pt-BR" sz="1600" dirty="0">
                <a:solidFill>
                  <a:schemeClr val="tx1">
                    <a:alpha val="80000"/>
                  </a:schemeClr>
                </a:solidFill>
              </a:rPr>
              <a:t>: poupança energética esperada vs poupança efetiva</a:t>
            </a:r>
          </a:p>
          <a:p>
            <a:pPr lvl="1"/>
            <a:r>
              <a:rPr lang="pt-BR" sz="1600" i="1" dirty="0">
                <a:solidFill>
                  <a:schemeClr val="tx1">
                    <a:alpha val="80000"/>
                  </a:schemeClr>
                </a:solidFill>
              </a:rPr>
              <a:t>Efeito backfire</a:t>
            </a:r>
            <a:r>
              <a:rPr lang="pt-BR" sz="1600" dirty="0">
                <a:solidFill>
                  <a:schemeClr val="tx1">
                    <a:alpha val="80000"/>
                  </a:schemeClr>
                </a:solidFill>
              </a:rPr>
              <a:t>: 100+% de energia poupada é consumida </a:t>
            </a:r>
            <a:br>
              <a:rPr lang="pt-BR" sz="1600" dirty="0">
                <a:solidFill>
                  <a:schemeClr val="tx1">
                    <a:alpha val="80000"/>
                  </a:schemeClr>
                </a:solidFill>
              </a:rPr>
            </a:br>
            <a:r>
              <a:rPr lang="pt-BR" sz="1600" dirty="0">
                <a:solidFill>
                  <a:schemeClr val="tx1">
                    <a:alpha val="80000"/>
                  </a:schemeClr>
                </a:solidFill>
              </a:rPr>
              <a:t>(i.e. não há poupança)</a:t>
            </a:r>
          </a:p>
          <a:p>
            <a:r>
              <a:rPr lang="pt-BR" sz="1600" dirty="0">
                <a:solidFill>
                  <a:schemeClr val="tx1">
                    <a:alpha val="80000"/>
                  </a:schemeClr>
                </a:solidFill>
              </a:rPr>
              <a:t>Efeitos </a:t>
            </a:r>
            <a:r>
              <a:rPr lang="pt-BR" sz="1600" i="1" dirty="0">
                <a:solidFill>
                  <a:schemeClr val="tx1">
                    <a:alpha val="80000"/>
                  </a:schemeClr>
                </a:solidFill>
              </a:rPr>
              <a:t>rebound</a:t>
            </a:r>
            <a:r>
              <a:rPr lang="pt-BR" sz="1600" dirty="0">
                <a:solidFill>
                  <a:schemeClr val="tx1">
                    <a:alpha val="80000"/>
                  </a:schemeClr>
                </a:solidFill>
              </a:rPr>
              <a:t> também podem se dar por fatores de </a:t>
            </a:r>
            <a:r>
              <a:rPr lang="pt-BR" sz="1600" i="1" dirty="0">
                <a:solidFill>
                  <a:schemeClr val="tx1">
                    <a:alpha val="80000"/>
                  </a:schemeClr>
                </a:solidFill>
              </a:rPr>
              <a:t>preço</a:t>
            </a:r>
            <a:r>
              <a:rPr lang="pt-BR" sz="1600" dirty="0">
                <a:solidFill>
                  <a:schemeClr val="tx1">
                    <a:alpha val="80000"/>
                  </a:schemeClr>
                </a:solidFill>
              </a:rPr>
              <a:t>  (efeitos substituição/renda)</a:t>
            </a:r>
          </a:p>
          <a:p>
            <a:pPr marL="0" indent="0">
              <a:buNone/>
            </a:pPr>
            <a:endParaRPr lang="pt-BR" sz="2000" i="1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1050579-F650-7BBF-CD53-F2D727BC0E9C}"/>
              </a:ext>
            </a:extLst>
          </p:cNvPr>
          <p:cNvSpPr txBox="1"/>
          <p:nvPr/>
        </p:nvSpPr>
        <p:spPr>
          <a:xfrm>
            <a:off x="279143" y="5119501"/>
            <a:ext cx="4892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Fonte: </a:t>
            </a:r>
            <a:r>
              <a:rPr lang="en-US" dirty="0">
                <a:solidFill>
                  <a:schemeClr val="bg1"/>
                </a:solidFill>
              </a:rPr>
              <a:t>(Saunders, 2009, p. 172)</a:t>
            </a:r>
            <a:r>
              <a:rPr lang="pt-BR" dirty="0">
                <a:solidFill>
                  <a:schemeClr val="bg1"/>
                </a:solidFill>
              </a:rPr>
              <a:t> 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763100-0C55-3343-8947-6C6B294E20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384570"/>
            <a:ext cx="5422188" cy="89825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EA5D24B-DCD6-AD46-7F22-F35B79E50FA1}"/>
              </a:ext>
            </a:extLst>
          </p:cNvPr>
          <p:cNvSpPr txBox="1"/>
          <p:nvPr/>
        </p:nvSpPr>
        <p:spPr>
          <a:xfrm>
            <a:off x="8807094" y="3196335"/>
            <a:ext cx="2595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(Saunders, 1992, p. 135)</a:t>
            </a:r>
          </a:p>
        </p:txBody>
      </p:sp>
    </p:spTree>
    <p:extLst>
      <p:ext uri="{BB962C8B-B14F-4D97-AF65-F5344CB8AC3E}">
        <p14:creationId xmlns:p14="http://schemas.microsoft.com/office/powerpoint/2010/main" val="1013132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96DA39-3A9A-5588-DDA4-6B29CD01F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2091" y="501651"/>
            <a:ext cx="4395340" cy="1716255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3600" kern="1200" dirty="0">
                <a:latin typeface="+mj-lt"/>
                <a:ea typeface="+mj-ea"/>
                <a:cs typeface="+mj-cs"/>
              </a:rPr>
              <a:t>Teoria do valor-</a:t>
            </a:r>
            <a:r>
              <a:rPr lang="en-US" sz="3600" kern="1200" dirty="0" err="1">
                <a:latin typeface="+mj-lt"/>
                <a:ea typeface="+mj-ea"/>
                <a:cs typeface="+mj-cs"/>
              </a:rPr>
              <a:t>trabalho</a:t>
            </a:r>
            <a:r>
              <a:rPr lang="en-US" sz="3600" kern="1200" dirty="0">
                <a:latin typeface="+mj-lt"/>
                <a:ea typeface="+mj-ea"/>
                <a:cs typeface="+mj-cs"/>
              </a:rPr>
              <a:t> de Marx e </a:t>
            </a:r>
            <a:r>
              <a:rPr lang="en-US" sz="3600" kern="1200" dirty="0" err="1">
                <a:latin typeface="+mj-lt"/>
                <a:ea typeface="+mj-ea"/>
                <a:cs typeface="+mj-cs"/>
              </a:rPr>
              <a:t>movimento</a:t>
            </a:r>
            <a:r>
              <a:rPr lang="en-US" sz="36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3600" kern="1200" dirty="0" err="1">
                <a:latin typeface="+mj-lt"/>
                <a:ea typeface="+mj-ea"/>
                <a:cs typeface="+mj-cs"/>
              </a:rPr>
              <a:t>imanente</a:t>
            </a:r>
            <a:r>
              <a:rPr lang="en-US" sz="3600" kern="1200" dirty="0">
                <a:latin typeface="+mj-lt"/>
                <a:ea typeface="+mj-ea"/>
                <a:cs typeface="+mj-cs"/>
              </a:rPr>
              <a:t> do capital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person walking up a stack of books&#10;&#10;AI-generated content may be incorrect.">
            <a:extLst>
              <a:ext uri="{FF2B5EF4-FFF2-40B4-BE49-F238E27FC236}">
                <a16:creationId xmlns:a16="http://schemas.microsoft.com/office/drawing/2014/main" id="{4BA34715-7B02-99EF-0D5D-E5BA2CBA8D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9" y="299509"/>
            <a:ext cx="4231013" cy="625898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14CB5-2F04-DB78-9BEA-4E05389BB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2583" y="2645922"/>
            <a:ext cx="4434721" cy="371042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sz="2000" kern="1200" dirty="0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</a:rPr>
              <a:t>Discussão sobre a essência da sociedade capitalista e de seus fenômenos</a:t>
            </a:r>
          </a:p>
          <a:p>
            <a:r>
              <a:rPr lang="en-US" sz="2000" kern="1200" dirty="0" err="1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</a:rPr>
              <a:t>Crítica</a:t>
            </a:r>
            <a:r>
              <a:rPr lang="en-US" sz="2000" kern="1200" dirty="0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 err="1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</a:rPr>
              <a:t>imanente</a:t>
            </a:r>
            <a:r>
              <a:rPr lang="en-US" sz="2000" kern="1200" dirty="0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</a:rPr>
              <a:t> do capital e de </a:t>
            </a:r>
            <a:r>
              <a:rPr lang="en-US" sz="2000" kern="1200" dirty="0" err="1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</a:rPr>
              <a:t>seu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movimento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logicamente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necessário</a:t>
            </a: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000" kern="1200" dirty="0" err="1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</a:rPr>
              <a:t>Partir</a:t>
            </a:r>
            <a:r>
              <a:rPr lang="en-US" sz="2000" kern="1200" dirty="0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</a:rPr>
              <a:t> de formas </a:t>
            </a:r>
            <a:r>
              <a:rPr lang="en-US" sz="2000" kern="1200" dirty="0" err="1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</a:rPr>
              <a:t>mais</a:t>
            </a:r>
            <a:r>
              <a:rPr lang="en-US" sz="2000" kern="1200" dirty="0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 err="1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</a:rPr>
              <a:t>abstratas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de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manifestação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do capital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até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formas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mais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concretas</a:t>
            </a:r>
            <a:endParaRPr lang="en-US" sz="2000" kern="1200" dirty="0">
              <a:solidFill>
                <a:schemeClr val="tx1">
                  <a:alpha val="80000"/>
                </a:schemeClr>
              </a:solidFill>
              <a:latin typeface="+mn-lt"/>
              <a:ea typeface="+mn-ea"/>
              <a:cs typeface="+mn-cs"/>
            </a:endParaRPr>
          </a:p>
          <a:p>
            <a:endParaRPr lang="en-US" sz="2000" kern="1200" dirty="0">
              <a:solidFill>
                <a:schemeClr val="tx1">
                  <a:alpha val="80000"/>
                </a:schemeClr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8207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332483-19A7-F3E5-774A-2AE1EB45B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pt-BR" sz="6000" dirty="0">
                <a:solidFill>
                  <a:srgbClr val="FFFFFF"/>
                </a:solidFill>
              </a:rPr>
              <a:t>Objetivos da dissertação</a:t>
            </a:r>
            <a:endParaRPr lang="en-US" sz="6000" dirty="0">
              <a:solidFill>
                <a:srgbClr val="FFFFFF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776CA-2AE2-C185-7CFD-2E7E2BE74F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pt-BR" sz="2000" dirty="0">
                <a:solidFill>
                  <a:schemeClr val="tx1">
                    <a:alpha val="80000"/>
                  </a:schemeClr>
                </a:solidFill>
              </a:rPr>
              <a:t>Fazer revisão bibliográfica sobre efeito </a:t>
            </a:r>
            <a:r>
              <a:rPr lang="pt-BR" sz="2000" i="1" dirty="0">
                <a:solidFill>
                  <a:schemeClr val="tx1">
                    <a:alpha val="80000"/>
                  </a:schemeClr>
                </a:solidFill>
              </a:rPr>
              <a:t>rebound</a:t>
            </a:r>
            <a:r>
              <a:rPr lang="pt-BR" sz="2000" dirty="0">
                <a:solidFill>
                  <a:schemeClr val="tx1">
                    <a:alpha val="80000"/>
                  </a:schemeClr>
                </a:solidFill>
              </a:rPr>
              <a:t>/</a:t>
            </a:r>
            <a:r>
              <a:rPr lang="pt-BR" sz="2000" i="1" dirty="0">
                <a:solidFill>
                  <a:schemeClr val="tx1">
                    <a:alpha val="80000"/>
                  </a:schemeClr>
                </a:solidFill>
              </a:rPr>
              <a:t>backfire</a:t>
            </a:r>
            <a:r>
              <a:rPr lang="pt-BR" sz="2000" dirty="0">
                <a:solidFill>
                  <a:schemeClr val="tx1">
                    <a:alpha val="80000"/>
                  </a:schemeClr>
                </a:solidFill>
              </a:rPr>
              <a:t> pela economia neoclássica/ortodoxa </a:t>
            </a:r>
            <a:r>
              <a:rPr lang="en-US" sz="2000" dirty="0"/>
              <a:t>(Brookes, 2000; Saunders, 2009; Sorrell, 2007)</a:t>
            </a:r>
            <a:endParaRPr lang="pt-BR" sz="20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pt-BR" sz="2000" dirty="0">
                <a:solidFill>
                  <a:schemeClr val="tx1">
                    <a:alpha val="80000"/>
                  </a:schemeClr>
                </a:solidFill>
              </a:rPr>
              <a:t>Descrever o fenômeno (paradoxo de Jevons/postulado KB) conforme níveis de abstração d’O Capital </a:t>
            </a:r>
            <a:r>
              <a:rPr lang="en-US" sz="2000" dirty="0"/>
              <a:t>(Marx, 2014, 2017a, 2017b)</a:t>
            </a:r>
            <a:r>
              <a:rPr lang="pt-BR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</a:p>
          <a:p>
            <a:r>
              <a:rPr lang="pt-BR" sz="2000" dirty="0">
                <a:solidFill>
                  <a:schemeClr val="tx1">
                    <a:alpha val="80000"/>
                  </a:schemeClr>
                </a:solidFill>
              </a:rPr>
              <a:t>Desenvolver como o “paradoxo” de Jevons/postulado KB é decorrência </a:t>
            </a:r>
            <a:r>
              <a:rPr lang="pt-BR" sz="2000" i="1" dirty="0">
                <a:solidFill>
                  <a:schemeClr val="tx1">
                    <a:alpha val="80000"/>
                  </a:schemeClr>
                </a:solidFill>
              </a:rPr>
              <a:t>necessária </a:t>
            </a:r>
            <a:r>
              <a:rPr lang="pt-BR" sz="2000" dirty="0">
                <a:solidFill>
                  <a:schemeClr val="tx1">
                    <a:alpha val="80000"/>
                  </a:schemeClr>
                </a:solidFill>
              </a:rPr>
              <a:t>do movimento do capital </a:t>
            </a:r>
            <a:r>
              <a:rPr lang="en-US" sz="2000" dirty="0"/>
              <a:t>(Sá Barreto, 2018)</a:t>
            </a:r>
            <a:endParaRPr lang="pt-BR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2014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663271-A4F6-D6F0-38EA-82BD1EC2F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pt-BR" sz="6200">
                <a:solidFill>
                  <a:srgbClr val="FFFFFF"/>
                </a:solidFill>
              </a:rPr>
              <a:t>Referências</a:t>
            </a:r>
            <a:endParaRPr lang="en-US" sz="6200">
              <a:solidFill>
                <a:srgbClr val="FFFFFF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AD688-C3C1-4DFD-9F4F-7F6346FE33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4750" y="949431"/>
            <a:ext cx="4771607" cy="5837949"/>
          </a:xfrm>
        </p:spPr>
        <p:txBody>
          <a:bodyPr anchor="ctr">
            <a:noAutofit/>
          </a:bodyPr>
          <a:lstStyle/>
          <a:p>
            <a:r>
              <a:rPr lang="en-US" sz="1300" dirty="0"/>
              <a:t>BROOKES, Leonard G. Energy efficiency fallacies revisited. </a:t>
            </a:r>
            <a:r>
              <a:rPr lang="en-US" sz="1300" b="1" dirty="0"/>
              <a:t>Energy Policy</a:t>
            </a:r>
            <a:r>
              <a:rPr lang="en-US" sz="1300" dirty="0"/>
              <a:t>, v. 28, n. 6, p. 355–366, 1 jun. 2000. </a:t>
            </a:r>
            <a:endParaRPr lang="en-US" sz="1300" dirty="0">
              <a:solidFill>
                <a:schemeClr val="tx1">
                  <a:alpha val="80000"/>
                </a:schemeClr>
              </a:solidFill>
              <a:effectLst/>
            </a:endParaRPr>
          </a:p>
          <a:p>
            <a:r>
              <a:rPr lang="en-US" sz="1300" dirty="0">
                <a:solidFill>
                  <a:schemeClr val="tx1">
                    <a:alpha val="80000"/>
                  </a:schemeClr>
                </a:solidFill>
                <a:effectLst/>
              </a:rPr>
              <a:t>JEVONS, William S. </a:t>
            </a:r>
            <a:r>
              <a:rPr lang="en-US" sz="1300" b="1" dirty="0">
                <a:solidFill>
                  <a:schemeClr val="tx1">
                    <a:alpha val="80000"/>
                  </a:schemeClr>
                </a:solidFill>
                <a:effectLst/>
              </a:rPr>
              <a:t>The coal question</a:t>
            </a:r>
            <a:r>
              <a:rPr lang="en-US" sz="1300" dirty="0">
                <a:solidFill>
                  <a:schemeClr val="tx1">
                    <a:alpha val="80000"/>
                  </a:schemeClr>
                </a:solidFill>
                <a:effectLst/>
              </a:rPr>
              <a:t>. 2. ed. London: Macmillan and Co., 1866. </a:t>
            </a:r>
          </a:p>
          <a:p>
            <a:r>
              <a:rPr lang="pt-BR" sz="1300" dirty="0">
                <a:solidFill>
                  <a:schemeClr val="tx1">
                    <a:alpha val="80000"/>
                  </a:schemeClr>
                </a:solidFill>
                <a:effectLst/>
              </a:rPr>
              <a:t>MARX, Karl. </a:t>
            </a:r>
            <a:r>
              <a:rPr lang="pt-BR" sz="1300" b="1" dirty="0">
                <a:solidFill>
                  <a:schemeClr val="tx1">
                    <a:alpha val="80000"/>
                  </a:schemeClr>
                </a:solidFill>
                <a:effectLst/>
              </a:rPr>
              <a:t>O Capital: crítica da economia política - Livro I: o processo de produção do capital</a:t>
            </a:r>
            <a:r>
              <a:rPr lang="pt-BR" sz="1300" dirty="0">
                <a:solidFill>
                  <a:schemeClr val="tx1">
                    <a:alpha val="80000"/>
                  </a:schemeClr>
                </a:solidFill>
                <a:effectLst/>
              </a:rPr>
              <a:t>. 2. ed. São Paulo: Boitempo, 2017</a:t>
            </a:r>
            <a:r>
              <a:rPr lang="pt-BR" sz="1300" dirty="0">
                <a:solidFill>
                  <a:schemeClr val="tx1">
                    <a:alpha val="80000"/>
                  </a:schemeClr>
                </a:solidFill>
              </a:rPr>
              <a:t>a</a:t>
            </a:r>
            <a:r>
              <a:rPr lang="pt-BR" sz="1300" dirty="0">
                <a:solidFill>
                  <a:schemeClr val="tx1">
                    <a:alpha val="80000"/>
                  </a:schemeClr>
                </a:solidFill>
                <a:effectLst/>
              </a:rPr>
              <a:t>. </a:t>
            </a:r>
          </a:p>
          <a:p>
            <a:r>
              <a:rPr lang="pt-BR" sz="1300" dirty="0">
                <a:solidFill>
                  <a:schemeClr val="tx1">
                    <a:alpha val="80000"/>
                  </a:schemeClr>
                </a:solidFill>
                <a:effectLst/>
              </a:rPr>
              <a:t>MARX, Karl. </a:t>
            </a:r>
            <a:r>
              <a:rPr lang="pt-BR" sz="1300" b="1" dirty="0">
                <a:solidFill>
                  <a:schemeClr val="tx1">
                    <a:alpha val="80000"/>
                  </a:schemeClr>
                </a:solidFill>
                <a:effectLst/>
              </a:rPr>
              <a:t>O capital: crítica da economia política - Livro II: o processo de circulação do capital</a:t>
            </a:r>
            <a:r>
              <a:rPr lang="pt-BR" sz="1300" dirty="0">
                <a:solidFill>
                  <a:schemeClr val="tx1">
                    <a:alpha val="80000"/>
                  </a:schemeClr>
                </a:solidFill>
                <a:effectLst/>
              </a:rPr>
              <a:t>. 1. ed. São Paulo: Boitempo, 2014. </a:t>
            </a:r>
          </a:p>
          <a:p>
            <a:r>
              <a:rPr lang="pt-BR" sz="1300" dirty="0">
                <a:solidFill>
                  <a:schemeClr val="tx1">
                    <a:alpha val="80000"/>
                  </a:schemeClr>
                </a:solidFill>
                <a:effectLst/>
              </a:rPr>
              <a:t>MARX, Karl. </a:t>
            </a:r>
            <a:r>
              <a:rPr lang="pt-BR" sz="1300" b="1" dirty="0">
                <a:solidFill>
                  <a:schemeClr val="tx1">
                    <a:alpha val="80000"/>
                  </a:schemeClr>
                </a:solidFill>
                <a:effectLst/>
              </a:rPr>
              <a:t>O capital: crítica da economia política - Livro III: o processo global da produção capitalista</a:t>
            </a:r>
            <a:r>
              <a:rPr lang="pt-BR" sz="1300" dirty="0">
                <a:solidFill>
                  <a:schemeClr val="tx1">
                    <a:alpha val="80000"/>
                  </a:schemeClr>
                </a:solidFill>
                <a:effectLst/>
              </a:rPr>
              <a:t>. 1. ed. São Paulo: Boitempo, 2017b. </a:t>
            </a:r>
          </a:p>
          <a:p>
            <a:r>
              <a:rPr lang="pt-BR" sz="1300" dirty="0">
                <a:solidFill>
                  <a:schemeClr val="tx1">
                    <a:alpha val="80000"/>
                  </a:schemeClr>
                </a:solidFill>
                <a:effectLst/>
              </a:rPr>
              <a:t>SÁ BARRETO, Eduardo. </a:t>
            </a:r>
            <a:r>
              <a:rPr lang="pt-BR" sz="1300" b="1" dirty="0">
                <a:solidFill>
                  <a:schemeClr val="tx1">
                    <a:alpha val="80000"/>
                  </a:schemeClr>
                </a:solidFill>
                <a:effectLst/>
              </a:rPr>
              <a:t>O capital na estufa: para a crítica da economia das mudanças climáticas</a:t>
            </a:r>
            <a:r>
              <a:rPr lang="pt-BR" sz="1300" dirty="0">
                <a:solidFill>
                  <a:schemeClr val="tx1">
                    <a:alpha val="80000"/>
                  </a:schemeClr>
                </a:solidFill>
                <a:effectLst/>
              </a:rPr>
              <a:t>. Rio de Janeiro: Consequência, 2018. </a:t>
            </a:r>
          </a:p>
          <a:p>
            <a:r>
              <a:rPr lang="en-US" sz="1300" dirty="0">
                <a:solidFill>
                  <a:schemeClr val="tx1">
                    <a:alpha val="80000"/>
                  </a:schemeClr>
                </a:solidFill>
                <a:effectLst/>
              </a:rPr>
              <a:t>SAUNDERS, Harry D. The </a:t>
            </a:r>
            <a:r>
              <a:rPr lang="en-US" sz="1300" dirty="0" err="1">
                <a:solidFill>
                  <a:schemeClr val="tx1">
                    <a:alpha val="80000"/>
                  </a:schemeClr>
                </a:solidFill>
                <a:effectLst/>
              </a:rPr>
              <a:t>Khazzoom</a:t>
            </a:r>
            <a:r>
              <a:rPr lang="en-US" sz="1300" dirty="0">
                <a:solidFill>
                  <a:schemeClr val="tx1">
                    <a:alpha val="80000"/>
                  </a:schemeClr>
                </a:solidFill>
                <a:effectLst/>
              </a:rPr>
              <a:t>-Brookes Postulate and Neoclassical Growth. </a:t>
            </a:r>
            <a:r>
              <a:rPr lang="en-US" sz="1300" b="1" dirty="0">
                <a:solidFill>
                  <a:schemeClr val="tx1">
                    <a:alpha val="80000"/>
                  </a:schemeClr>
                </a:solidFill>
                <a:effectLst/>
              </a:rPr>
              <a:t>The Energy Journal</a:t>
            </a:r>
            <a:r>
              <a:rPr lang="en-US" sz="1300" dirty="0">
                <a:solidFill>
                  <a:schemeClr val="tx1">
                    <a:alpha val="80000"/>
                  </a:schemeClr>
                </a:solidFill>
                <a:effectLst/>
              </a:rPr>
              <a:t>, v. 13, n. 4, p. 131–148, 1 </a:t>
            </a:r>
            <a:r>
              <a:rPr lang="en-US" sz="1300" dirty="0" err="1">
                <a:solidFill>
                  <a:schemeClr val="tx1">
                    <a:alpha val="80000"/>
                  </a:schemeClr>
                </a:solidFill>
                <a:effectLst/>
              </a:rPr>
              <a:t>maio</a:t>
            </a:r>
            <a:r>
              <a:rPr lang="en-US" sz="1300" dirty="0">
                <a:solidFill>
                  <a:schemeClr val="tx1">
                    <a:alpha val="80000"/>
                  </a:schemeClr>
                </a:solidFill>
                <a:effectLst/>
              </a:rPr>
              <a:t> 1992. </a:t>
            </a:r>
          </a:p>
          <a:p>
            <a:r>
              <a:rPr lang="en-US" sz="1300" dirty="0"/>
              <a:t>SAUNDERS, Harry D. Theoretical foundations of the rebound effect. </a:t>
            </a:r>
            <a:r>
              <a:rPr lang="en-US" sz="1300" i="1" dirty="0"/>
              <a:t>In</a:t>
            </a:r>
            <a:r>
              <a:rPr lang="en-US" sz="1300" dirty="0"/>
              <a:t>: EVANS, Joanne; HUNT, Lester C. (Orgs.). </a:t>
            </a:r>
            <a:r>
              <a:rPr lang="en-US" sz="1300" b="1" dirty="0"/>
              <a:t>International handbook on the economics of energy</a:t>
            </a:r>
            <a:r>
              <a:rPr lang="en-US" sz="1300" dirty="0"/>
              <a:t>. Cheltenham: Edward Elgar, 2009. </a:t>
            </a:r>
          </a:p>
          <a:p>
            <a:r>
              <a:rPr lang="en-US" sz="1300" dirty="0"/>
              <a:t>SORRELL, Steve. </a:t>
            </a:r>
            <a:r>
              <a:rPr lang="en-US" sz="1300" b="1" dirty="0"/>
              <a:t>The Rebound Effect: an assessment of the evidence for economy-wide energy savings from improved energy efficiency</a:t>
            </a:r>
            <a:r>
              <a:rPr lang="en-US" sz="1300" dirty="0"/>
              <a:t>. UK Energy Research Centre London, , 2007. </a:t>
            </a:r>
            <a:r>
              <a:rPr lang="en-US" sz="1300" dirty="0" err="1"/>
              <a:t>Disponível</a:t>
            </a:r>
            <a:r>
              <a:rPr lang="en-US" sz="1300" dirty="0"/>
              <a:t> </a:t>
            </a:r>
            <a:r>
              <a:rPr lang="en-US" sz="1300" dirty="0" err="1"/>
              <a:t>em</a:t>
            </a:r>
            <a:r>
              <a:rPr lang="en-US" sz="1300" dirty="0"/>
              <a:t>: &lt;</a:t>
            </a:r>
            <a:r>
              <a:rPr lang="en-US" sz="1300" dirty="0">
                <a:hlinkClick r:id="rId2"/>
              </a:rPr>
              <a:t>http://www.rshanthini.com/tmp/CP551/ReboundEffectReport.PDF</a:t>
            </a:r>
            <a:r>
              <a:rPr lang="en-US" sz="1300" dirty="0"/>
              <a:t>&gt;.</a:t>
            </a:r>
          </a:p>
          <a:p>
            <a:endParaRPr lang="en-US" sz="1300" dirty="0"/>
          </a:p>
          <a:p>
            <a:endParaRPr lang="en-US" sz="1300" dirty="0">
              <a:solidFill>
                <a:schemeClr val="tx1">
                  <a:alpha val="80000"/>
                </a:schemeClr>
              </a:solidFill>
              <a:effectLst/>
            </a:endParaRPr>
          </a:p>
          <a:p>
            <a:pPr marL="0" indent="0">
              <a:buNone/>
            </a:pPr>
            <a:endParaRPr lang="en-US" sz="1300" dirty="0">
              <a:solidFill>
                <a:schemeClr val="tx1">
                  <a:alpha val="80000"/>
                </a:schemeClr>
              </a:solidFill>
              <a:effectLst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8402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538</TotalTime>
  <Words>586</Words>
  <Application>Microsoft Office PowerPoint</Application>
  <PresentationFormat>Widescreen</PresentationFormat>
  <Paragraphs>35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Para uma análise marxista do postulado de Khazzoom-Brookes</vt:lpstr>
      <vt:lpstr>“Paradoxo” de Jevons (final do século XIX)</vt:lpstr>
      <vt:lpstr>Postulado de Khazzoom-Brookes (pós-1970’s/1980’s)</vt:lpstr>
      <vt:lpstr>Teoria do valor-trabalho de Marx e movimento imanente do capital</vt:lpstr>
      <vt:lpstr>Objetivos da dissertação</vt:lpstr>
      <vt:lpstr>Referências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Nicholas Funari</dc:creator>
  <cp:lastModifiedBy>Nicholas Funari</cp:lastModifiedBy>
  <cp:revision>10</cp:revision>
  <dcterms:created xsi:type="dcterms:W3CDTF">2025-12-03T16:15:57Z</dcterms:created>
  <dcterms:modified xsi:type="dcterms:W3CDTF">2025-12-04T16:57:45Z</dcterms:modified>
</cp:coreProperties>
</file>